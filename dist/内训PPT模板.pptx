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C962423D-708B-DE4F-45DD-90D1B8AA02B2}">
          <p14:sldIdLst>
            <p14:sldId id="256"/>
            <p14:sldId id="257"/>
          </p14:sldIdLst>
        </p14:section>
        <p14:section name="章节示例" id="{82DFAE4C-87E7-3D99-EE34-7D93FF918AF1}">
          <p14:sldIdLst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封面版式「封面」：标题、副标题、日期三个占位符。不写主讲人。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目录：每部分一张卡片，标题 + 一个引导问题。部分少于 6 个时删掉多余卡片。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小封面版式「小封面」：章节号、标题、引导问题三个占位符；下方主题标签按需增删。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内容页版式「内容页」：只有标题占位符，右上角的章节标签用 header() 写。讲稿写在备注里，不写在页面上。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三栏卡片，常用于并列的三件事。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颜色对应三大功能：蓝 = 运动控制，青 = 防水，紫 = 决策，整学期保持一致。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bg>
      <p:bgPr>
        <a:solidFill>
          <a:srgbClr val="0A2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ute/Developer/ZJUOC/zjuoc-ppt-template/logo_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868680" cy="868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37360" y="7498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浙江大学学生海洋机器人协会</a:t>
            </a: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1874520"/>
            <a:ext cx="603504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85800" y="3108960"/>
            <a:ext cx="5212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85800" y="5806440"/>
            <a:ext cx="56692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C9D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小封面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A2E5C"/>
          </a:solidFill>
          <a:ln w="12700">
            <a:solidFill>
              <a:srgbClr val="0A2E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8FB0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</a:t>
            </a:r>
            <a:endParaRPr lang="en-US" sz="14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640080" y="2148840"/>
            <a:ext cx="32918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600" b="1" dirty="0">
                <a:solidFill>
                  <a:srgbClr val="F2A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9600" dirty="0"/>
          </a:p>
        </p:txBody>
      </p:sp>
      <p:pic>
        <p:nvPicPr>
          <p:cNvPr id="5" name="Image 0" descr="/Users/macute/Developer/ZJUOC/zjuoc-ppt-template/logo_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715000"/>
            <a:ext cx="502920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4632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课程名称 · 第 N 次内训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846320" y="1965960"/>
            <a:ext cx="822960" cy="7315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8" name="Text 4"/>
          <p:cNvSpPr/>
          <p:nvPr>
            <p:ph idx="106" type="title" hasCustomPrompt="1"/>
          </p:nvPr>
        </p:nvSpPr>
        <p:spPr>
          <a:xfrm>
            <a:off x="4846320" y="2194560"/>
            <a:ext cx="676656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A2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9" name="Text 4"/>
          <p:cNvSpPr/>
          <p:nvPr>
            <p:ph idx="107" type="body" hasCustomPrompt="1"/>
          </p:nvPr>
        </p:nvSpPr>
        <p:spPr>
          <a:xfrm>
            <a:off x="4846320" y="3246120"/>
            <a:ext cx="65836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ute/Developer/ZJUOC/zjuoc-ppt-template/logo_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83464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46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课程名称 · 第 N 次内训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1261872" y="301752"/>
            <a:ext cx="694944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A2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777240"/>
            <a:ext cx="5394960" cy="5394960"/>
          </a:xfrm>
          <a:prstGeom prst="ellipse">
            <a:avLst/>
          </a:prstGeom>
          <a:solidFill>
            <a:srgbClr val="123E73"/>
          </a:solidFill>
          <a:ln w="12700">
            <a:solidFill>
              <a:srgbClr val="123E7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269480" y="269748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123E73"/>
          </a:solidFill>
          <a:ln w="9525">
            <a:solidFill>
              <a:srgbClr val="123E73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右侧放主视觉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9D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（透明底渲染图或裁成圆形的照片）</a:t>
            </a: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187452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课程名称</a:t>
            </a:r>
            <a:endParaRPr lang="en-US" sz="4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85800" y="31089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CE7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一句话说明这次内训讲什么、用什么案例</a:t>
            </a:r>
            <a:endParaRPr lang="en-US" sz="16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85800" y="58064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8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N 次内训　·　2026 年 X 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261872" y="301752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今天的路线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6F9FC"/>
          </a:solidFill>
          <a:ln w="9525">
            <a:solidFill>
              <a:srgbClr val="D5DEE8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3560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5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部分标题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这一部分要回答的问题？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311396" y="12344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6F9FC"/>
          </a:solidFill>
          <a:ln w="9525">
            <a:solidFill>
              <a:srgbClr val="D5DEE8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85716" y="143560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5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585716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部分标题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85716" y="26060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这一部分要回答的问题？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74152" y="12344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6F9FC"/>
          </a:solidFill>
          <a:ln w="9525">
            <a:solidFill>
              <a:srgbClr val="D5DEE8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48472" y="143560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5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348472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部分标题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48472" y="26060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这一部分要回答的问题？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6F9FC"/>
          </a:solidFill>
          <a:ln w="9525">
            <a:solidFill>
              <a:srgbClr val="D5DEE8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95020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5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63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部分标题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20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这一部分要回答的问题？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311396" y="37490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6F9FC"/>
          </a:solidFill>
          <a:ln w="9525">
            <a:solidFill>
              <a:srgbClr val="D5DEE8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85716" y="395020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5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4585716" y="4663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部分标题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85716" y="5120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这一部分要回答的问题？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074152" y="374904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6F9FC"/>
          </a:solidFill>
          <a:ln w="9525">
            <a:solidFill>
              <a:srgbClr val="D5DEE8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348472" y="395020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5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8348472" y="4663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部分标题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348472" y="5120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这一部分要回答的问题？</a:t>
            </a:r>
            <a:endParaRPr lang="en-US" sz="13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640080" y="214884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2A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4"/>
          <p:cNvSpPr/>
          <p:nvPr>
            <p:ph idx="106" type="title" hasCustomPrompt="1"/>
          </p:nvPr>
        </p:nvSpPr>
        <p:spPr>
          <a:xfrm>
            <a:off x="4846320" y="219456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A2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章节标题</a:t>
            </a:r>
            <a:endParaRPr lang="en-US" sz="36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4846320" y="32461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这一部分要回答的问题？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457200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EEF4FA"/>
          </a:solidFill>
          <a:ln w="9525">
            <a:solidFill>
              <a:srgbClr val="EEF4FA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A2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主题一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457200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EEF4FA"/>
          </a:solidFill>
          <a:ln w="9525">
            <a:solidFill>
              <a:srgbClr val="EEF4FA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A2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主题二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040880" y="457200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EEF4FA"/>
          </a:solidFill>
          <a:ln w="9525">
            <a:solidFill>
              <a:srgbClr val="EEF4FA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A2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主题三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261872" y="301752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内容页：左图右文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297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章节标题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4FA"/>
          </a:solidFill>
          <a:ln w="9525">
            <a:solidFill>
              <a:srgbClr val="EEF4FA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图片区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照片加细边框和轻阴影；图注 10 pt 灰色写在图下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188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要点标题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6916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一页只讲一件事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 13–16 pt，至少 12 pt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少写句子，多放实物照片、框图、数据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206240"/>
            <a:ext cx="5239512" cy="1188720"/>
          </a:xfrm>
          <a:prstGeom prst="roundRect">
            <a:avLst>
              <a:gd name="adj" fmla="val 6154"/>
            </a:avLst>
          </a:prstGeom>
          <a:solidFill>
            <a:srgbClr val="0A2E5C"/>
          </a:solidFill>
          <a:ln w="9525">
            <a:solidFill>
              <a:srgbClr val="0A2E5C"/>
            </a:solidFill>
          </a:ln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结论框  </a:t>
            </a: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深蓝底白字，放这一页最想让大家记住的一句话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261872" y="301752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内容页：三张卡片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297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章节标题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6F9FC"/>
          </a:solidFill>
          <a:ln w="9525">
            <a:solidFill>
              <a:srgbClr val="D5DEE8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640080" cy="640080"/>
          </a:xfrm>
          <a:prstGeom prst="ellipse">
            <a:avLst/>
          </a:prstGeom>
          <a:solidFill>
            <a:srgbClr val="0A55A6"/>
          </a:solidFill>
          <a:ln w="12700">
            <a:solidFill>
              <a:srgbClr val="0A55A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151241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417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55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运动控制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4028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要点一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要点二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要点三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311396" y="118872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6F9FC"/>
          </a:solidFill>
          <a:ln w="9525">
            <a:solidFill>
              <a:srgbClr val="D5DEE8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39996" y="1371600"/>
            <a:ext cx="640080" cy="640080"/>
          </a:xfrm>
          <a:prstGeom prst="ellipse">
            <a:avLst/>
          </a:prstGeom>
          <a:solidFill>
            <a:srgbClr val="13878F"/>
          </a:solidFill>
          <a:ln w="12700">
            <a:solidFill>
              <a:srgbClr val="13878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14" y="151241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17236" y="1417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87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防水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85716" y="224028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要点一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要点二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要点三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074152" y="118872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6F9FC"/>
          </a:solidFill>
          <a:ln w="9525">
            <a:solidFill>
              <a:srgbClr val="D5DEE8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302752" y="1371600"/>
            <a:ext cx="640080" cy="640080"/>
          </a:xfrm>
          <a:prstGeom prst="ellipse">
            <a:avLst/>
          </a:prstGeom>
          <a:solidFill>
            <a:srgbClr val="6A4C9C"/>
          </a:solidFill>
          <a:ln w="12700">
            <a:solidFill>
              <a:srgbClr val="6A4C9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570" y="1512418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79992" y="1417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A4C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48472" y="224028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要点一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要点二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要点三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卡片：浅灰底 F6F9FC + 细边框 D5DEE8；图标放在彩色圆里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1261872" y="301752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模板规范：颜色与字号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297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使用说明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0A2E5C"/>
          </a:solidFill>
          <a:ln w="9525">
            <a:solidFill>
              <a:srgbClr val="0A2E5C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298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NAVY  0A2E5C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主色：封面、标题、结论框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311396" y="118872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0A55A6"/>
          </a:solidFill>
          <a:ln w="9525">
            <a:solidFill>
              <a:srgbClr val="0A55A6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62956" y="1298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  0A55A6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362956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运动控制 / 强调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074152" y="118872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3878F"/>
          </a:solidFill>
          <a:ln w="9525">
            <a:solidFill>
              <a:srgbClr val="13878F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25712" y="1298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TEAL  13878F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25712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防水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33172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6A4C9C"/>
          </a:solidFill>
          <a:ln w="9525">
            <a:solidFill>
              <a:srgbClr val="6A4C9C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2441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PURPLE  6A4C9C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311396" y="233172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E07B12"/>
          </a:solidFill>
          <a:ln w="9525">
            <a:solidFill>
              <a:srgbClr val="E07B1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62956" y="2441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ORANGE  E07B12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62956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警示、教训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074152" y="233172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2A65A"/>
          </a:solidFill>
          <a:ln w="9525">
            <a:solidFill>
              <a:srgbClr val="F2A65A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25712" y="24414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2E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  F2A65A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25712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深色底上的强调字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657600"/>
            <a:ext cx="2011680" cy="365760"/>
          </a:xfrm>
          <a:prstGeom prst="roundRect">
            <a:avLst>
              <a:gd name="adj" fmla="val 10000"/>
            </a:avLst>
          </a:prstGeom>
          <a:solidFill>
            <a:srgbClr val="0A2E5C"/>
          </a:solidFill>
          <a:ln w="9525">
            <a:solidFill>
              <a:srgbClr val="0A2E5C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页标题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651760" y="3657600"/>
            <a:ext cx="4572000" cy="365760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9525">
            <a:solidFill>
              <a:srgbClr val="D5DEE8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pt 粗体，深蓝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087368"/>
            <a:ext cx="2011680" cy="365760"/>
          </a:xfrm>
          <a:prstGeom prst="roundRect">
            <a:avLst>
              <a:gd name="adj" fmla="val 10000"/>
            </a:avLst>
          </a:prstGeom>
          <a:solidFill>
            <a:srgbClr val="0A2E5C"/>
          </a:solidFill>
          <a:ln w="9525">
            <a:solidFill>
              <a:srgbClr val="0A2E5C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小封面标题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651760" y="4087368"/>
            <a:ext cx="4572000" cy="365760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9525">
            <a:solidFill>
              <a:srgbClr val="D5DEE8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 pt 粗体；章节号 96 pt 金色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517136"/>
            <a:ext cx="2011680" cy="365760"/>
          </a:xfrm>
          <a:prstGeom prst="roundRect">
            <a:avLst>
              <a:gd name="adj" fmla="val 10000"/>
            </a:avLst>
          </a:prstGeom>
          <a:solidFill>
            <a:srgbClr val="0A2E5C"/>
          </a:solidFill>
          <a:ln w="9525">
            <a:solidFill>
              <a:srgbClr val="0A2E5C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卡片标题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651760" y="4517136"/>
            <a:ext cx="4572000" cy="365760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9525">
            <a:solidFill>
              <a:srgbClr val="D5DEE8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15–18 pt 粗体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946904"/>
            <a:ext cx="2011680" cy="365760"/>
          </a:xfrm>
          <a:prstGeom prst="roundRect">
            <a:avLst>
              <a:gd name="adj" fmla="val 10000"/>
            </a:avLst>
          </a:prstGeom>
          <a:solidFill>
            <a:srgbClr val="0A2E5C"/>
          </a:solidFill>
          <a:ln w="9525">
            <a:solidFill>
              <a:srgbClr val="0A2E5C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651760" y="4946904"/>
            <a:ext cx="4572000" cy="365760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9525">
            <a:solidFill>
              <a:srgbClr val="D5DEE8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13–16 pt，最小 12 pt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376672"/>
            <a:ext cx="2011680" cy="365760"/>
          </a:xfrm>
          <a:prstGeom prst="roundRect">
            <a:avLst>
              <a:gd name="adj" fmla="val 10000"/>
            </a:avLst>
          </a:prstGeom>
          <a:solidFill>
            <a:srgbClr val="0A2E5C"/>
          </a:solidFill>
          <a:ln w="9525">
            <a:solidFill>
              <a:srgbClr val="0A2E5C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图注 / 来源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651760" y="5376672"/>
            <a:ext cx="4572000" cy="365760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9525">
            <a:solidFill>
              <a:srgbClr val="D5DEE8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9–11 pt 灰色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806440"/>
            <a:ext cx="2011680" cy="365760"/>
          </a:xfrm>
          <a:prstGeom prst="roundRect">
            <a:avLst>
              <a:gd name="adj" fmla="val 10000"/>
            </a:avLst>
          </a:prstGeom>
          <a:solidFill>
            <a:srgbClr val="0A2E5C"/>
          </a:solidFill>
          <a:ln w="9525">
            <a:solidFill>
              <a:srgbClr val="0A2E5C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651760" y="5806440"/>
            <a:ext cx="4572000" cy="365760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9525">
            <a:solidFill>
              <a:srgbClr val="D5DEE8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微软雅黑（主题字体，不用单独设置）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589520" y="3657600"/>
            <a:ext cx="4050792" cy="2514600"/>
          </a:xfrm>
          <a:prstGeom prst="roundRect">
            <a:avLst>
              <a:gd name="adj" fmla="val 2909"/>
            </a:avLst>
          </a:prstGeom>
          <a:solidFill>
            <a:srgbClr val="0A2E5C"/>
          </a:solidFill>
          <a:ln w="9525">
            <a:solidFill>
              <a:srgbClr val="0A2E5C"/>
            </a:solidFill>
          </a:ln>
        </p:spPr>
        <p:txBody>
          <a:bodyPr wrap="square" lIns="182880" tIns="182880" rIns="182880" bIns="18288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A6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怎样用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PowerPoint：开始 → 新建幻灯片，选「封面 / 小封面 / 内容页」三种版式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脚本生成：require("tpl.js")，setup() 后用 masterName 选版式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JUOC 内训">
  <a:themeElements>
    <a:clrScheme name="ZJUOC 内训">
      <a:dk1>
        <a:srgbClr val="1F2A37"/>
      </a:dk1>
      <a:lt1>
        <a:srgbClr val="FFFFFF"/>
      </a:lt1>
      <a:dk2>
        <a:srgbClr val="0A2E5C"/>
      </a:dk2>
      <a:lt2>
        <a:srgbClr val="EEF4FA"/>
      </a:lt2>
      <a:accent1>
        <a:srgbClr val="0A55A6"/>
      </a:accent1>
      <a:accent2>
        <a:srgbClr val="13878F"/>
      </a:accent2>
      <a:accent3>
        <a:srgbClr val="6A4C9C"/>
      </a:accent3>
      <a:accent4>
        <a:srgbClr val="E07B12"/>
      </a:accent4>
      <a:accent5>
        <a:srgbClr val="3B7DD8"/>
      </a:accent5>
      <a:accent6>
        <a:srgbClr val="7A8A9C"/>
      </a:accent6>
      <a:hlink>
        <a:srgbClr val="0A55A6"/>
      </a:hlink>
      <a:folHlink>
        <a:srgbClr val="6A4C9C"/>
      </a:folHlink>
    </a:clrScheme>
    <a:fontScheme name="Office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浙江大学学生海洋机器人协会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内训PPT模板</dc:title>
  <dc:subject>PptxGenJS Presentation</dc:subject>
  <dc:creator>浙江大学学生海洋机器人协会</dc:creator>
  <cp:lastModifiedBy>浙江大学学生海洋机器人协会</cp:lastModifiedBy>
  <cp:revision>1</cp:revision>
  <dcterms:created xsi:type="dcterms:W3CDTF">2026-10-21T03:26:44Z</dcterms:created>
  <dcterms:modified xsi:type="dcterms:W3CDTF">2026-10-21T03:26:44Z</dcterms:modified>
</cp:coreProperties>
</file>